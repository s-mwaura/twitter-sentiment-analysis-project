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2" r:id="rId1"/>
  </p:sldMasterIdLst>
  <p:sldIdLst>
    <p:sldId id="256" r:id="rId2"/>
    <p:sldId id="276" r:id="rId3"/>
    <p:sldId id="257" r:id="rId4"/>
    <p:sldId id="258" r:id="rId5"/>
    <p:sldId id="259" r:id="rId6"/>
    <p:sldId id="275" r:id="rId7"/>
    <p:sldId id="260" r:id="rId8"/>
    <p:sldId id="282" r:id="rId9"/>
    <p:sldId id="261" r:id="rId10"/>
    <p:sldId id="279" r:id="rId11"/>
    <p:sldId id="262" r:id="rId12"/>
    <p:sldId id="283" r:id="rId13"/>
    <p:sldId id="264" r:id="rId14"/>
    <p:sldId id="263" r:id="rId15"/>
    <p:sldId id="265" r:id="rId16"/>
    <p:sldId id="266" r:id="rId17"/>
    <p:sldId id="280" r:id="rId18"/>
    <p:sldId id="267" r:id="rId19"/>
    <p:sldId id="281" r:id="rId20"/>
    <p:sldId id="268" r:id="rId21"/>
    <p:sldId id="269" r:id="rId22"/>
    <p:sldId id="270" r:id="rId23"/>
    <p:sldId id="271" r:id="rId24"/>
    <p:sldId id="272" r:id="rId25"/>
    <p:sldId id="273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478" autoAdjust="0"/>
  </p:normalViewPr>
  <p:slideViewPr>
    <p:cSldViewPr snapToGrid="0" snapToObjects="1">
      <p:cViewPr>
        <p:scale>
          <a:sx n="70" d="100"/>
          <a:sy n="70" d="100"/>
        </p:scale>
        <p:origin x="11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KE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KE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KE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KE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KE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KE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KE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K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499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43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88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76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2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69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090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81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872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7676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05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375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514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709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77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KE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KE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KE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KE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KE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KE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KE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K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246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  <p:sldLayoutId id="2147483925" r:id="rId13"/>
    <p:sldLayoutId id="2147483926" r:id="rId14"/>
    <p:sldLayoutId id="2147483927" r:id="rId15"/>
    <p:sldLayoutId id="214748392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.world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8299" y="1160864"/>
            <a:ext cx="5826719" cy="1646302"/>
          </a:xfrm>
        </p:spPr>
        <p:txBody>
          <a:bodyPr/>
          <a:lstStyle/>
          <a:p>
            <a:r>
              <a:rPr dirty="0"/>
              <a:t>Twitter Sentiment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761" y="2980986"/>
            <a:ext cx="6591554" cy="1353270"/>
          </a:xfrm>
        </p:spPr>
        <p:txBody>
          <a:bodyPr>
            <a:noAutofit/>
          </a:bodyPr>
          <a:lstStyle/>
          <a:p>
            <a:r>
              <a:rPr lang="en-GB" sz="2800" b="1" dirty="0"/>
              <a:t>Natural Language Processing model for </a:t>
            </a:r>
            <a:r>
              <a:rPr sz="2800" b="1" dirty="0"/>
              <a:t>Classifying Tweets into Positive</a:t>
            </a:r>
            <a:r>
              <a:rPr lang="en-GB" sz="2800" b="1" dirty="0"/>
              <a:t>, </a:t>
            </a:r>
            <a:r>
              <a:rPr sz="2800" b="1" dirty="0"/>
              <a:t>Negative </a:t>
            </a:r>
            <a:r>
              <a:rPr lang="en-GB" sz="2800" b="1" dirty="0"/>
              <a:t>and</a:t>
            </a:r>
            <a:r>
              <a:rPr sz="2800" b="1" dirty="0"/>
              <a:t> Neutral</a:t>
            </a:r>
            <a:r>
              <a:rPr lang="en-GB" sz="2800" b="1" dirty="0"/>
              <a:t> Sentiments.</a:t>
            </a:r>
            <a:endParaRPr sz="2800" b="1" dirty="0"/>
          </a:p>
          <a:p>
            <a:endParaRPr sz="2800" dirty="0"/>
          </a:p>
          <a:p>
            <a:r>
              <a:rPr lang="en-GB" sz="2800" b="1" dirty="0"/>
              <a:t>Author: </a:t>
            </a:r>
            <a:r>
              <a:rPr sz="2800" b="1" dirty="0"/>
              <a:t>Stephen Mwaura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6313C-CA8F-EC25-CEDF-12BD9460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Natural Language Processing</a:t>
            </a:r>
            <a:br>
              <a:rPr lang="en-GB" dirty="0"/>
            </a:br>
            <a:r>
              <a:rPr lang="en-GB" dirty="0"/>
              <a:t>(NLP)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9005A-1B56-A834-BB1E-26C2AA5D1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KE" dirty="0"/>
              <a:t>Natural language processing (NLP) techniques bridge the gap between human language and machine understanding</a:t>
            </a:r>
            <a:r>
              <a:rPr lang="en-GB" dirty="0"/>
              <a:t>.</a:t>
            </a:r>
            <a:endParaRPr lang="en-KE" dirty="0"/>
          </a:p>
          <a:p>
            <a:r>
              <a:rPr lang="en-KE" b="1" dirty="0"/>
              <a:t>Text preprocessing:</a:t>
            </a:r>
            <a:r>
              <a:rPr lang="en-KE" dirty="0"/>
              <a:t> Raw tweets are cleaned by removing stop words, punctuation, numbers, and special characters that add noise without contributing to sentiment</a:t>
            </a:r>
            <a:r>
              <a:rPr lang="en-GB" dirty="0"/>
              <a:t>.</a:t>
            </a:r>
            <a:endParaRPr lang="en-KE" dirty="0"/>
          </a:p>
          <a:p>
            <a:r>
              <a:rPr lang="en-KE" b="1" dirty="0"/>
              <a:t>TF-IDF vectorization:</a:t>
            </a:r>
            <a:r>
              <a:rPr lang="en-KE" dirty="0"/>
              <a:t> Cleaned text is converted into numerical feature vectors that represent the importance of each word in each tweet</a:t>
            </a:r>
            <a:r>
              <a:rPr lang="en-GB" dirty="0"/>
              <a:t>.</a:t>
            </a:r>
            <a:endParaRPr lang="en-KE" dirty="0"/>
          </a:p>
          <a:p>
            <a:r>
              <a:rPr lang="en-KE" b="1" dirty="0"/>
              <a:t>Final output:</a:t>
            </a:r>
            <a:r>
              <a:rPr lang="en-KE" dirty="0"/>
              <a:t> Unstructured Twitter data becomes structured numerical features that machine learning algorithms (like Logistic Regression and LinearSVC) can process</a:t>
            </a:r>
            <a:r>
              <a:rPr lang="en-GB" dirty="0"/>
              <a:t>.</a:t>
            </a:r>
            <a:endParaRPr lang="en-KE" dirty="0"/>
          </a:p>
          <a:p>
            <a:r>
              <a:rPr lang="en-KE" b="1" dirty="0"/>
              <a:t>Why this matters:</a:t>
            </a:r>
            <a:r>
              <a:rPr lang="en-KE" dirty="0"/>
              <a:t> Without NLP transformation, models cannot interpret text, emojis, hashtags, or slang commonly found in tweets</a:t>
            </a:r>
            <a:r>
              <a:rPr lang="en-GB" dirty="0"/>
              <a:t>.</a:t>
            </a:r>
            <a:endParaRPr lang="en-KE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725123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Problem &amp;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7162801" cy="4087810"/>
          </a:xfrm>
        </p:spPr>
        <p:txBody>
          <a:bodyPr>
            <a:normAutofit/>
          </a:bodyPr>
          <a:lstStyle/>
          <a:p>
            <a:r>
              <a:rPr lang="en-KE" b="1" dirty="0"/>
              <a:t>The Problem:</a:t>
            </a:r>
            <a:r>
              <a:rPr lang="en-KE" dirty="0"/>
              <a:t> Manual tweet analysis is slow, costly, and impractical at scale, causing companies to miss critical customer feedback.</a:t>
            </a:r>
          </a:p>
          <a:p>
            <a:r>
              <a:rPr lang="en-KE" b="1" dirty="0"/>
              <a:t>The Solution:</a:t>
            </a:r>
            <a:r>
              <a:rPr lang="en-KE" dirty="0"/>
              <a:t> Automated sentiment classification using a machine learning model.</a:t>
            </a:r>
          </a:p>
          <a:p>
            <a:r>
              <a:rPr lang="en-KE" b="1" dirty="0"/>
              <a:t>The Benefits:</a:t>
            </a:r>
            <a:r>
              <a:rPr lang="en-KE" dirty="0"/>
              <a:t> Real-time monitoring, early issue detection, and data-driven decisions.</a:t>
            </a:r>
          </a:p>
          <a:p>
            <a:r>
              <a:rPr lang="en-KE" b="1" dirty="0"/>
              <a:t>The </a:t>
            </a:r>
            <a:r>
              <a:rPr lang="en-GB" b="1" dirty="0"/>
              <a:t>Sentiments in the dataset are</a:t>
            </a:r>
            <a:r>
              <a:rPr lang="en-KE" b="1" dirty="0"/>
              <a:t>:</a:t>
            </a:r>
            <a:r>
              <a:rPr lang="en-KE" dirty="0"/>
              <a:t> Positive, Negative, and No Emotion Toward Brand/</a:t>
            </a:r>
            <a:r>
              <a:rPr lang="en-GB" dirty="0"/>
              <a:t>Product.</a:t>
            </a:r>
            <a:endParaRPr lang="en-K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09600"/>
            <a:ext cx="5860032" cy="1036320"/>
          </a:xfrm>
        </p:spPr>
        <p:txBody>
          <a:bodyPr/>
          <a:lstStyle/>
          <a:p>
            <a:r>
              <a:rPr dirty="0"/>
              <a:t>Dataset &amp; Class Imbalance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KE" b="1" dirty="0"/>
              <a:t>Source:</a:t>
            </a:r>
            <a:r>
              <a:rPr lang="en-KE" dirty="0"/>
              <a:t> CrowdFlower via </a:t>
            </a:r>
            <a:r>
              <a:rPr lang="en-KE" dirty="0">
                <a:hlinkClick r:id="rId2"/>
              </a:rPr>
              <a:t>data.world</a:t>
            </a:r>
            <a:r>
              <a:rPr lang="en-KE" dirty="0"/>
              <a:t> | </a:t>
            </a:r>
            <a:endParaRPr lang="en-GB" dirty="0"/>
          </a:p>
          <a:p>
            <a:r>
              <a:rPr lang="en-KE" b="1" dirty="0"/>
              <a:t>Content:</a:t>
            </a:r>
            <a:r>
              <a:rPr lang="en-KE" dirty="0"/>
              <a:t> Apple </a:t>
            </a:r>
            <a:r>
              <a:rPr lang="en-GB" dirty="0"/>
              <a:t>and</a:t>
            </a:r>
            <a:r>
              <a:rPr lang="en-KE" dirty="0"/>
              <a:t> Google tweets (SXSW) | </a:t>
            </a:r>
            <a:endParaRPr lang="en-GB" dirty="0"/>
          </a:p>
          <a:p>
            <a:r>
              <a:rPr lang="en-KE" b="1" dirty="0"/>
              <a:t>Size:</a:t>
            </a:r>
            <a:r>
              <a:rPr lang="en-KE" dirty="0"/>
              <a:t> 9,093 tweets</a:t>
            </a:r>
          </a:p>
          <a:p>
            <a:r>
              <a:rPr lang="en-KE" b="1" dirty="0"/>
              <a:t>Labels:</a:t>
            </a:r>
            <a:r>
              <a:rPr lang="en-KE" dirty="0"/>
              <a:t> Sentiment toward brand/product</a:t>
            </a:r>
          </a:p>
          <a:p>
            <a:r>
              <a:rPr lang="en-KE" b="1" dirty="0"/>
              <a:t>Distribution:</a:t>
            </a:r>
            <a:r>
              <a:rPr lang="en-KE" dirty="0"/>
              <a:t> Neutral 59.3% | Positive 32.8% | Negative 6.3% | "I can't tell" 1.7%</a:t>
            </a:r>
          </a:p>
          <a:p>
            <a:r>
              <a:rPr lang="en-KE" b="1" dirty="0"/>
              <a:t>Challenge:</a:t>
            </a:r>
            <a:r>
              <a:rPr lang="en-KE" dirty="0"/>
              <a:t> Model could achieve 59% accuracy by predicting only "Neutral"</a:t>
            </a:r>
          </a:p>
          <a:p>
            <a:r>
              <a:rPr lang="en-KE" b="1" dirty="0"/>
              <a:t>Solution:</a:t>
            </a:r>
            <a:r>
              <a:rPr lang="en-KE" dirty="0"/>
              <a:t> Use macro F1 score instead of accuracy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Distribution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3371"/>
            <a:ext cx="9144000" cy="6720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4120-6B20-3EF5-B4F3-9B792D260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Target Brand and Sentiment Distribution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36F0B-EBB2-7F32-10E2-DC4FB32FE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E" dirty="0"/>
              <a:t>Apple and Google products are frequently mentioned across the tweet dataset</a:t>
            </a:r>
          </a:p>
          <a:p>
            <a:r>
              <a:rPr lang="en-KE" dirty="0"/>
              <a:t>These brand mentions appear consistently in both positive and negative sentiment</a:t>
            </a:r>
            <a:r>
              <a:rPr lang="en-GB" dirty="0"/>
              <a:t>s</a:t>
            </a:r>
            <a:endParaRPr lang="en-KE" dirty="0"/>
          </a:p>
          <a:p>
            <a:r>
              <a:rPr lang="en-KE" dirty="0"/>
              <a:t>This high volume of brand-specific mentions confirms the dataset is highly relevant to the business problem</a:t>
            </a:r>
          </a:p>
          <a:p>
            <a:r>
              <a:rPr lang="en-KE" dirty="0"/>
              <a:t>The data is properly focused on monitoring customer sentiment toward major technology brands</a:t>
            </a:r>
            <a:br>
              <a:rPr lang="en-KE" dirty="0"/>
            </a:b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779576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Target and Sentiments</a:t>
            </a:r>
            <a:endParaRPr dirty="0"/>
          </a:p>
        </p:txBody>
      </p:sp>
      <p:pic>
        <p:nvPicPr>
          <p:cNvPr id="3" name="Picture 2" descr="im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9144000" cy="65689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1724E-8BB7-8104-EF53-5B52C3D36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34EFD-362F-5EC3-9F07-5F63D46E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Text Preprocessing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B18B-2E88-0B39-B736-B3785B3E1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KE" b="1" dirty="0"/>
              <a:t>Text Preprocessing (Cleaning Tweets)</a:t>
            </a:r>
            <a:endParaRPr lang="en-KE" dirty="0"/>
          </a:p>
          <a:p>
            <a:r>
              <a:rPr lang="en-KE" dirty="0"/>
              <a:t>Remove stop words (the, and, is)</a:t>
            </a:r>
          </a:p>
          <a:p>
            <a:r>
              <a:rPr lang="en-KE" dirty="0"/>
              <a:t>Remove punctuation, URLs, numbers</a:t>
            </a:r>
          </a:p>
          <a:p>
            <a:r>
              <a:rPr lang="en-KE" dirty="0"/>
              <a:t>Lowercase all text</a:t>
            </a:r>
          </a:p>
          <a:p>
            <a:r>
              <a:rPr lang="en-KE" dirty="0"/>
              <a:t>Result: Clean, meaningful words for analysis</a:t>
            </a:r>
          </a:p>
          <a:p>
            <a:pPr marL="0" indent="0">
              <a:buNone/>
            </a:pPr>
            <a:r>
              <a:rPr lang="en-KE" b="1" dirty="0"/>
              <a:t>After Preprocessing (Top Words)</a:t>
            </a:r>
            <a:endParaRPr lang="en-KE" dirty="0"/>
          </a:p>
          <a:p>
            <a:r>
              <a:rPr lang="en-KE" b="1" dirty="0"/>
              <a:t>iPad</a:t>
            </a:r>
            <a:r>
              <a:rPr lang="en-KE" dirty="0"/>
              <a:t> (2,800) - Most discussed</a:t>
            </a:r>
          </a:p>
          <a:p>
            <a:r>
              <a:rPr lang="en-KE" b="1" dirty="0"/>
              <a:t>google</a:t>
            </a:r>
            <a:r>
              <a:rPr lang="en-KE" dirty="0"/>
              <a:t> (2,200)</a:t>
            </a:r>
          </a:p>
          <a:p>
            <a:r>
              <a:rPr lang="en-KE" b="1" dirty="0"/>
              <a:t>apple</a:t>
            </a:r>
            <a:r>
              <a:rPr lang="en-KE" dirty="0"/>
              <a:t> (2,000)</a:t>
            </a:r>
          </a:p>
          <a:p>
            <a:r>
              <a:rPr lang="en-KE" b="1" dirty="0"/>
              <a:t>iPhone</a:t>
            </a:r>
            <a:r>
              <a:rPr lang="en-KE" dirty="0"/>
              <a:t> (1,500)</a:t>
            </a:r>
          </a:p>
          <a:p>
            <a:r>
              <a:rPr lang="en-KE" b="1" dirty="0"/>
              <a:t>Austin</a:t>
            </a:r>
            <a:r>
              <a:rPr lang="en-KE" dirty="0"/>
              <a:t> (1,200) - SXSW location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121884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pic>
        <p:nvPicPr>
          <p:cNvPr id="3" name="Picture 2" descr="im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9144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C9D63-C867-E2FB-FD8F-F0A75D7F6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DB5A-C4AC-2D6A-B5D1-C0D2021B9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Target Brand Merging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8B7DF-5363-A1CE-FE12-523994103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28216"/>
            <a:ext cx="6347714" cy="4313147"/>
          </a:xfrm>
        </p:spPr>
        <p:txBody>
          <a:bodyPr>
            <a:normAutofit/>
          </a:bodyPr>
          <a:lstStyle/>
          <a:p>
            <a:r>
              <a:rPr lang="en-KE" dirty="0"/>
              <a:t>All Apple-related products (iPhone, iPad, </a:t>
            </a:r>
            <a:r>
              <a:rPr lang="en-GB" dirty="0"/>
              <a:t>Apple</a:t>
            </a:r>
            <a:r>
              <a:rPr lang="en-KE" dirty="0"/>
              <a:t>) were merged into one brand feature</a:t>
            </a:r>
            <a:r>
              <a:rPr lang="en-GB" dirty="0"/>
              <a:t> of apple</a:t>
            </a:r>
            <a:endParaRPr lang="en-KE" dirty="0"/>
          </a:p>
          <a:p>
            <a:r>
              <a:rPr lang="en-KE" dirty="0"/>
              <a:t>All Google-related products (</a:t>
            </a:r>
            <a:r>
              <a:rPr lang="en-GB" dirty="0"/>
              <a:t>Google</a:t>
            </a:r>
            <a:r>
              <a:rPr lang="en-KE" dirty="0"/>
              <a:t>, Android</a:t>
            </a:r>
            <a:r>
              <a:rPr lang="en-GB" dirty="0"/>
              <a:t>, Android App</a:t>
            </a:r>
            <a:r>
              <a:rPr lang="en-KE" dirty="0"/>
              <a:t>) were merged into another</a:t>
            </a:r>
            <a:r>
              <a:rPr lang="en-GB" dirty="0"/>
              <a:t> feature google</a:t>
            </a:r>
            <a:endParaRPr lang="en-KE" dirty="0"/>
          </a:p>
          <a:p>
            <a:r>
              <a:rPr lang="en-KE" dirty="0"/>
              <a:t>Grouping brand mentions together reduced overall feature dimensionality</a:t>
            </a:r>
          </a:p>
          <a:p>
            <a:r>
              <a:rPr lang="en-KE" dirty="0"/>
              <a:t>This helped the model focus on brand-level sentiment rather than product-specific noise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743186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KE" b="1" dirty="0"/>
              <a:t>Feature engineering</a:t>
            </a:r>
            <a:r>
              <a:rPr lang="en-KE" dirty="0"/>
              <a:t> transforms raw Twitter data into a structured format that machine learning models can effectively learn from.</a:t>
            </a:r>
          </a:p>
          <a:p>
            <a:r>
              <a:rPr lang="en-KE" b="1" dirty="0"/>
              <a:t>Combining text preprocessing with TF-IDF vectorization</a:t>
            </a:r>
            <a:r>
              <a:rPr lang="en-KE" dirty="0"/>
              <a:t> enables strong classification performance, especially for Logistic Regression and LinearSVC.</a:t>
            </a:r>
          </a:p>
          <a:p>
            <a:r>
              <a:rPr lang="en-KE" b="1" dirty="0"/>
              <a:t>Text cleaning</a:t>
            </a:r>
            <a:r>
              <a:rPr lang="en-KE" dirty="0"/>
              <a:t> eliminates stop words to reduce noise and improve model performance.</a:t>
            </a:r>
          </a:p>
          <a:p>
            <a:r>
              <a:rPr lang="en-KE" b="1" dirty="0"/>
              <a:t>TF-IDF (Term Frequency–Inverse Document Frequency)</a:t>
            </a:r>
            <a:r>
              <a:rPr lang="en-KE" dirty="0"/>
              <a:t> converts textual data into numerical vectors that machine learning algorithms can process.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84CCA-EF93-E1ED-9609-8C9EA1D20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Merged Target Brands </a:t>
            </a:r>
            <a:endParaRPr lang="en-K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3743D6-CB88-1961-4A16-4DBD00D304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70000"/>
            <a:ext cx="7799832" cy="579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443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</a:t>
            </a:r>
            <a:r>
              <a:rPr lang="en-GB" dirty="0"/>
              <a:t>s</a:t>
            </a:r>
            <a:r>
              <a:rPr dirty="0"/>
              <a:t> </a:t>
            </a:r>
            <a:r>
              <a:rPr lang="en-GB" dirty="0"/>
              <a:t>Used and their </a:t>
            </a:r>
            <a:r>
              <a:rPr dirty="0"/>
              <a:t>Performance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269050"/>
              </p:ext>
            </p:extLst>
          </p:nvPr>
        </p:nvGraphicFramePr>
        <p:xfrm>
          <a:off x="484710" y="2063931"/>
          <a:ext cx="8071461" cy="2704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5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7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7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003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28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2800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2800"/>
                        <a:t>Macro 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003">
                <a:tc>
                  <a:txBody>
                    <a:bodyPr/>
                    <a:lstStyle/>
                    <a:p>
                      <a:r>
                        <a:rPr sz="2800" dirty="0"/>
                        <a:t>Naïve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800"/>
                        <a:t>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800"/>
                        <a:t>0.58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003">
                <a:tc>
                  <a:txBody>
                    <a:bodyPr/>
                    <a:lstStyle/>
                    <a:p>
                      <a:r>
                        <a:rPr sz="2800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800" dirty="0"/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800" dirty="0"/>
                        <a:t>0.73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003">
                <a:tc>
                  <a:txBody>
                    <a:bodyPr/>
                    <a:lstStyle/>
                    <a:p>
                      <a:r>
                        <a:rPr sz="2800"/>
                        <a:t>LinearSVC (WINNER)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800" dirty="0"/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800" dirty="0"/>
                        <a:t>0.78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pic>
        <p:nvPicPr>
          <p:cNvPr id="3" name="Picture 2" descr="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76" y="1371600"/>
            <a:ext cx="904852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LinearSVC Won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 overall accuracy (91%)</a:t>
            </a:r>
          </a:p>
          <a:p>
            <a:r>
              <a:rPr dirty="0"/>
              <a:t>Best macro F1 score (0.78)</a:t>
            </a:r>
          </a:p>
          <a:p>
            <a:r>
              <a:rPr dirty="0"/>
              <a:t>Balanced performance across all sentiment classes</a:t>
            </a:r>
          </a:p>
          <a:p>
            <a:r>
              <a:rPr dirty="0"/>
              <a:t>Best at detecting minority negative class</a:t>
            </a:r>
          </a:p>
          <a:p>
            <a:r>
              <a:rPr lang="en-GB" dirty="0"/>
              <a:t>Hyperparameter tuning done using </a:t>
            </a:r>
            <a:r>
              <a:rPr dirty="0"/>
              <a:t>GridSearchCV + Class weighting + Macro F1 optimization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Class Imbalance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Problem: 59% Neutral | 33% Positive | 6% Negative</a:t>
            </a:r>
          </a:p>
          <a:p>
            <a:r>
              <a:rPr dirty="0"/>
              <a:t>Solutions Applied:</a:t>
            </a:r>
          </a:p>
          <a:p>
            <a:r>
              <a:rPr dirty="0"/>
              <a:t>Macro F1 Score for evaluation (not accuracy)</a:t>
            </a:r>
          </a:p>
          <a:p>
            <a:r>
              <a:rPr dirty="0"/>
              <a:t>Class weighting - Higher penalty for misclassifying negative</a:t>
            </a:r>
          </a:p>
          <a:p>
            <a:r>
              <a:rPr dirty="0"/>
              <a:t>Future Improvements:</a:t>
            </a:r>
          </a:p>
          <a:p>
            <a:r>
              <a:rPr dirty="0"/>
              <a:t>   • SMOTE (Synthetic Minority Oversampling)</a:t>
            </a:r>
          </a:p>
          <a:p>
            <a:r>
              <a:rPr dirty="0"/>
              <a:t>   • Under sampling majority class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15D10-4568-BBF8-6886-8FC9FCB77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14523-4E1C-9793-0BC4-0C9196AD9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 Importances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EE537-F267-5867-9CCE-F0ACFCBDD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KE" dirty="0"/>
              <a:t>Feature importances quantify how much each word or attribute influences </a:t>
            </a:r>
            <a:r>
              <a:rPr lang="en-GB" dirty="0"/>
              <a:t>the</a:t>
            </a:r>
            <a:r>
              <a:rPr lang="en-KE" dirty="0"/>
              <a:t> model's final prediction</a:t>
            </a:r>
          </a:p>
          <a:p>
            <a:r>
              <a:rPr lang="en-KE" dirty="0"/>
              <a:t>Higher importance means that feature has a greater impact on determining sentiment class</a:t>
            </a:r>
          </a:p>
          <a:p>
            <a:r>
              <a:rPr lang="en-KE" dirty="0"/>
              <a:t>Lower importance means the model largely ignores that feature when making decisions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2432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11480"/>
            <a:ext cx="6347714" cy="1518920"/>
          </a:xfrm>
        </p:spPr>
        <p:txBody>
          <a:bodyPr/>
          <a:lstStyle/>
          <a:p>
            <a:r>
              <a:rPr dirty="0"/>
              <a:t>Top Feature Importances</a:t>
            </a:r>
            <a:r>
              <a:rPr lang="en-GB" dirty="0"/>
              <a:t> for Positive emotion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2819E1-7E80-DD18-2264-41D05F98C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7328"/>
            <a:ext cx="9006840" cy="49791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02E43-DC1A-82C4-8939-86E305A6B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E8FE-A111-8B7C-4E59-2DE1B70E5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411480"/>
            <a:ext cx="6347714" cy="1518920"/>
          </a:xfrm>
        </p:spPr>
        <p:txBody>
          <a:bodyPr/>
          <a:lstStyle/>
          <a:p>
            <a:r>
              <a:rPr dirty="0"/>
              <a:t>Top Feature Importances</a:t>
            </a:r>
            <a:r>
              <a:rPr lang="en-GB" dirty="0"/>
              <a:t> for Negative emotion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F777CC-7A16-156D-557C-73D00C7D3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296" y="1581912"/>
            <a:ext cx="9226295" cy="457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01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 Importance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03021"/>
            <a:ext cx="7071361" cy="4617720"/>
          </a:xfrm>
        </p:spPr>
        <p:txBody>
          <a:bodyPr>
            <a:normAutofit fontScale="85000" lnSpcReduction="10000"/>
          </a:bodyPr>
          <a:lstStyle/>
          <a:p>
            <a:r>
              <a:rPr lang="en-KE" sz="2400" dirty="0"/>
              <a:t>* Positive Emotion Class: Strongest associations are "giving" (1.8), "wow" (1.5), "great" (1.3), "awesome" (1.1), "cool" (1.0), and "fun" (0.8). Negative words like "hate" (-2.6) and "fail" (-1.8) are correctly pushed away.</a:t>
            </a:r>
            <a:br>
              <a:rPr lang="en-KE" sz="2400" dirty="0"/>
            </a:br>
            <a:endParaRPr lang="en-KE" sz="2400" dirty="0"/>
          </a:p>
          <a:p>
            <a:r>
              <a:rPr lang="en-KE" sz="2400" dirty="0"/>
              <a:t>* Neutral Class: Characterized by "target_brand_other" (2.8), "link" (0.8), and "congress" (0.8). Emotional words like "partying" (-1.2) and specific brands like "Apple" (-0.9) push tweets away from neutrality.</a:t>
            </a:r>
            <a:br>
              <a:rPr lang="en-KE" sz="2400" dirty="0"/>
            </a:br>
            <a:endParaRPr lang="en-KE" sz="2400" dirty="0"/>
          </a:p>
          <a:p>
            <a:r>
              <a:rPr lang="en-KE" sz="2400" dirty="0"/>
              <a:t>* Overall: The model cleanly separates positive (happy words), neutral (informational content), and negative (complaint words) sentiment with intuitive boundaries.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LIME Explanation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25880"/>
            <a:ext cx="6347714" cy="4715483"/>
          </a:xfrm>
        </p:spPr>
        <p:txBody>
          <a:bodyPr>
            <a:noAutofit/>
          </a:bodyPr>
          <a:lstStyle/>
          <a:p>
            <a:r>
              <a:rPr sz="2000" dirty="0"/>
              <a:t>Tweet: "So far the longest line at #sxsw has been at the Apple store"</a:t>
            </a:r>
          </a:p>
          <a:p>
            <a:r>
              <a:rPr sz="2000" dirty="0"/>
              <a:t>Prediction Probabilities:</a:t>
            </a:r>
          </a:p>
          <a:p>
            <a:r>
              <a:rPr sz="2000" dirty="0"/>
              <a:t>   Negative: 5%</a:t>
            </a:r>
          </a:p>
          <a:p>
            <a:r>
              <a:rPr sz="2000" dirty="0"/>
              <a:t>   Neutral: 69% ✓ PREDICTION</a:t>
            </a:r>
          </a:p>
          <a:p>
            <a:r>
              <a:rPr sz="2000" dirty="0"/>
              <a:t>   Positive: 27%</a:t>
            </a:r>
          </a:p>
          <a:p>
            <a:r>
              <a:rPr sz="2000" dirty="0"/>
              <a:t>Top Influential Words: longest (+0.19), Apple (+0.14), line (+0.10)</a:t>
            </a:r>
          </a:p>
          <a:p>
            <a:r>
              <a:rPr sz="2000" dirty="0"/>
              <a:t>Interpretation: Observation about crowd, no sentiment expressed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90472"/>
            <a:ext cx="6347714" cy="4550891"/>
          </a:xfrm>
        </p:spPr>
        <p:txBody>
          <a:bodyPr>
            <a:normAutofit lnSpcReduction="10000"/>
          </a:bodyPr>
          <a:lstStyle/>
          <a:p>
            <a:r>
              <a:rPr lang="en-KE" b="1" dirty="0"/>
              <a:t>Neutral tweets dominate (59%)</a:t>
            </a:r>
            <a:r>
              <a:rPr lang="en-KE" dirty="0"/>
              <a:t> – Most users share facts, not feelings</a:t>
            </a:r>
          </a:p>
          <a:p>
            <a:r>
              <a:rPr lang="en-KE" b="1" dirty="0"/>
              <a:t>Negative sentiment is hardest to detect</a:t>
            </a:r>
            <a:r>
              <a:rPr lang="en-KE" dirty="0"/>
              <a:t> – Sarcasm, abbreviations, and limited context obscure genuine complaints</a:t>
            </a:r>
          </a:p>
          <a:p>
            <a:r>
              <a:rPr lang="en-KE" b="1" dirty="0"/>
              <a:t>Positive sentiment is easiest</a:t>
            </a:r>
            <a:r>
              <a:rPr lang="en-KE" dirty="0"/>
              <a:t> – Clear praise words like </a:t>
            </a:r>
            <a:r>
              <a:rPr lang="en-KE" i="1" dirty="0"/>
              <a:t>fun</a:t>
            </a:r>
            <a:r>
              <a:rPr lang="en-KE" dirty="0"/>
              <a:t>, </a:t>
            </a:r>
            <a:r>
              <a:rPr lang="en-KE" i="1" dirty="0"/>
              <a:t>great</a:t>
            </a:r>
            <a:r>
              <a:rPr lang="en-KE" dirty="0"/>
              <a:t>, and </a:t>
            </a:r>
            <a:r>
              <a:rPr lang="en-KE" i="1" dirty="0"/>
              <a:t>cool</a:t>
            </a:r>
            <a:r>
              <a:rPr lang="en-KE" dirty="0"/>
              <a:t> signal strong sentiment</a:t>
            </a:r>
          </a:p>
          <a:p>
            <a:r>
              <a:rPr lang="en-KE" b="1" dirty="0"/>
              <a:t>Technical issues drive negativity</a:t>
            </a:r>
            <a:r>
              <a:rPr lang="en-KE" dirty="0"/>
              <a:t> – Terms like </a:t>
            </a:r>
            <a:r>
              <a:rPr lang="en-GB" i="1" dirty="0"/>
              <a:t>fail</a:t>
            </a:r>
            <a:r>
              <a:rPr lang="en-KE" dirty="0"/>
              <a:t>, </a:t>
            </a:r>
            <a:r>
              <a:rPr lang="en-GB" i="1" dirty="0"/>
              <a:t>hate</a:t>
            </a:r>
            <a:r>
              <a:rPr lang="en-KE" dirty="0"/>
              <a:t>, </a:t>
            </a:r>
            <a:r>
              <a:rPr lang="en-KE" i="1" dirty="0"/>
              <a:t>battery</a:t>
            </a:r>
            <a:r>
              <a:rPr lang="en-KE" dirty="0"/>
              <a:t>, and </a:t>
            </a:r>
            <a:r>
              <a:rPr lang="en-KE" i="1" dirty="0"/>
              <a:t>alarm</a:t>
            </a:r>
            <a:r>
              <a:rPr lang="en-KE" dirty="0"/>
              <a:t> consistently indicate frustration</a:t>
            </a:r>
          </a:p>
          <a:p>
            <a:r>
              <a:rPr lang="en-KE" b="1" dirty="0"/>
              <a:t>Brand names matter</a:t>
            </a:r>
            <a:r>
              <a:rPr lang="en-KE" dirty="0"/>
              <a:t> – Apple and Google dominate conversations, each evoking strong sentiment polarity</a:t>
            </a:r>
          </a:p>
          <a:p>
            <a:r>
              <a:rPr lang="en-KE" b="1" dirty="0"/>
              <a:t>Sarcasm remains a major challenge</a:t>
            </a:r>
            <a:r>
              <a:rPr lang="en-KE" dirty="0"/>
              <a:t> – Models struggle to distinguish ironic praise from genuine criticism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936171"/>
          </a:xfrm>
        </p:spPr>
        <p:txBody>
          <a:bodyPr/>
          <a:lstStyle/>
          <a:p>
            <a:r>
              <a:rPr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28" y="1371600"/>
            <a:ext cx="6618985" cy="4669763"/>
          </a:xfrm>
        </p:spPr>
        <p:txBody>
          <a:bodyPr>
            <a:normAutofit/>
          </a:bodyPr>
          <a:lstStyle/>
          <a:p>
            <a:r>
              <a:rPr dirty="0"/>
              <a:t> Monitor negative keywords (</a:t>
            </a:r>
            <a:r>
              <a:rPr lang="en-GB" dirty="0"/>
              <a:t>hate</a:t>
            </a:r>
            <a:r>
              <a:rPr dirty="0"/>
              <a:t>, </a:t>
            </a:r>
            <a:r>
              <a:rPr lang="en-GB" dirty="0"/>
              <a:t>fail</a:t>
            </a:r>
            <a:r>
              <a:rPr dirty="0"/>
              <a:t>, </a:t>
            </a:r>
            <a:r>
              <a:rPr lang="en-GB" dirty="0"/>
              <a:t>headaches</a:t>
            </a:r>
            <a:r>
              <a:rPr dirty="0"/>
              <a:t>) in real time</a:t>
            </a:r>
          </a:p>
          <a:p>
            <a:r>
              <a:rPr dirty="0"/>
              <a:t> Prioritize bug fixes - Negative sentiment = software/performance issues</a:t>
            </a:r>
          </a:p>
          <a:p>
            <a:r>
              <a:rPr dirty="0"/>
              <a:t> Leverage positive tweets to guide marketing campaigns</a:t>
            </a:r>
          </a:p>
          <a:p>
            <a:r>
              <a:rPr dirty="0"/>
              <a:t> Enhance customer support - Respond quickly on Twitter</a:t>
            </a:r>
          </a:p>
          <a:p>
            <a:r>
              <a:rPr dirty="0"/>
              <a:t>Use BERT</a:t>
            </a:r>
            <a:r>
              <a:rPr lang="en-GB" dirty="0"/>
              <a:t> </a:t>
            </a:r>
            <a:r>
              <a:rPr dirty="0"/>
              <a:t>for sarcasm &amp; context understanding</a:t>
            </a:r>
          </a:p>
          <a:p>
            <a:r>
              <a:rPr dirty="0"/>
              <a:t>Add emojis, hashtags, mentions as features</a:t>
            </a:r>
          </a:p>
          <a:p>
            <a:r>
              <a:rPr dirty="0"/>
              <a:t>Conduct periodic monitoring after product launches/updates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088" y="609600"/>
            <a:ext cx="6253224" cy="972312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280160"/>
            <a:ext cx="6347714" cy="4761203"/>
          </a:xfrm>
        </p:spPr>
        <p:txBody>
          <a:bodyPr>
            <a:noAutofit/>
          </a:bodyPr>
          <a:lstStyle/>
          <a:p>
            <a:r>
              <a:rPr dirty="0"/>
              <a:t>Twitter is a valuable real-time source of consumer opinions</a:t>
            </a:r>
          </a:p>
          <a:p>
            <a:r>
              <a:rPr dirty="0"/>
              <a:t>Positive sentiment → Product satisfaction (love, great, excellent)</a:t>
            </a:r>
          </a:p>
          <a:p>
            <a:r>
              <a:rPr dirty="0"/>
              <a:t> Negative sentiment → Technical issues (crash, broken, problem)</a:t>
            </a:r>
          </a:p>
          <a:p>
            <a:r>
              <a:rPr dirty="0"/>
              <a:t>LinearSVC achieved 91% accuracy with balanced performance</a:t>
            </a:r>
          </a:p>
          <a:p>
            <a:r>
              <a:rPr dirty="0"/>
              <a:t> Challenge: Negative tweets harder to classify due to sarcasm &amp; limited context</a:t>
            </a:r>
          </a:p>
          <a:p>
            <a:r>
              <a:rPr dirty="0"/>
              <a:t>Future: BERT, emoji features, aspect-based sentiment analysis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6600" dirty="0"/>
              <a:t>🙏 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sz="4800" b="1" dirty="0"/>
              <a:t>Questions?</a:t>
            </a:r>
          </a:p>
          <a:p>
            <a:endParaRPr sz="4800" dirty="0"/>
          </a:p>
          <a:p>
            <a:r>
              <a:rPr sz="4800" b="1" dirty="0"/>
              <a:t>Stephen Mwaura</a:t>
            </a:r>
          </a:p>
          <a:p>
            <a:endParaRPr sz="4800" dirty="0"/>
          </a:p>
          <a:p>
            <a:r>
              <a:rPr sz="4800" dirty="0"/>
              <a:t>GitHub | LinkedIn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105</TotalTime>
  <Words>1198</Words>
  <Application>Microsoft Office PowerPoint</Application>
  <PresentationFormat>On-screen Show (4:3)</PresentationFormat>
  <Paragraphs>128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Trebuchet MS</vt:lpstr>
      <vt:lpstr>Wingdings 3</vt:lpstr>
      <vt:lpstr>Facet</vt:lpstr>
      <vt:lpstr>Twitter Sentiment Analysis</vt:lpstr>
      <vt:lpstr>Natural Language Processing (NLP)</vt:lpstr>
      <vt:lpstr>Business Problem &amp; Overview</vt:lpstr>
      <vt:lpstr>Dataset &amp; Class Imbalance</vt:lpstr>
      <vt:lpstr>Sentiment Distribution</vt:lpstr>
      <vt:lpstr>Target Brand and Sentiment Distribution</vt:lpstr>
      <vt:lpstr>Target and Sentiments</vt:lpstr>
      <vt:lpstr>Text Preprocessing</vt:lpstr>
      <vt:lpstr>Data Preprocessing</vt:lpstr>
      <vt:lpstr>Target Brand Merging</vt:lpstr>
      <vt:lpstr>Feature Engineering</vt:lpstr>
      <vt:lpstr>Merged Target Brands </vt:lpstr>
      <vt:lpstr>Models Used and their Performance Summary</vt:lpstr>
      <vt:lpstr>Model Performance</vt:lpstr>
      <vt:lpstr>Why LinearSVC Won</vt:lpstr>
      <vt:lpstr>Handling Class Imbalance</vt:lpstr>
      <vt:lpstr>Feature Importances</vt:lpstr>
      <vt:lpstr>Top Feature Importances for Positive emotion</vt:lpstr>
      <vt:lpstr>Top Feature Importances for Negative emotion</vt:lpstr>
      <vt:lpstr>Feature Importance Insights</vt:lpstr>
      <vt:lpstr>LIME Explanation Example</vt:lpstr>
      <vt:lpstr>Key Insights</vt:lpstr>
      <vt:lpstr>Recommendations</vt:lpstr>
      <vt:lpstr>Conclusion</vt:lpstr>
      <vt:lpstr>🙏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Mwaura, Stephen KEN USAMRU-K LAB KCH</cp:lastModifiedBy>
  <cp:revision>10</cp:revision>
  <dcterms:created xsi:type="dcterms:W3CDTF">2013-01-27T09:14:16Z</dcterms:created>
  <dcterms:modified xsi:type="dcterms:W3CDTF">2026-06-12T12:03:41Z</dcterms:modified>
  <cp:category/>
</cp:coreProperties>
</file>